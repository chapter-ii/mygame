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 0:00-0:30：各位老师好，我们小组的项目是《指挥官战术对抗》。约10分钟介绍背景、设计、功能、难点与成果。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P2 0:30-0:50：五部分提纲——背景目标、架构、功能、难点、分工成果。手势轻点，不要逐条念。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P3 0:50-1:50：痛点/机会→定位一句话。下军令不是点小兵；500v500、约10分钟、离线可玩。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P4 1:50-2:50：必须做到 vs 不做/约束。范围克制是工程判断，不是能力不足。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P5 2:50-4:10：七层+四协议。命令单向驱动；公平靠 ObservationSnapshot 数据边界。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P6 4:10-5:10：地图/迷雾/工程/表现四条。强调未探索区不泄露真实地形。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P7 5:10-6:20 最大亮点：输入→解析→校验→执行→反馈。断网可降级离线。语速稍慢。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P8 6:20-7:10：双层AI+隔离+战术行为。收束句：公平靠接口边界，不靠AI假装看不见。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P9 7:10-8:20 重点页：深挖千人性能+桥面错位/自动作战僵持，其余一句带过。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P10 8:20-8:50：主责+交叉评审。成员A/B换成真名。不要展开每个文件。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P11 8:50-9:30：闭环+测试+双平台。一句话点演示路径：架桥或自然语言指令。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P12 9:30-9:50：诚实说不足，再收一句话总结。不要展开新话题。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P13 9:50-10:00：停顿半秒后致谢，进入问答。可先演示再提问。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_defense_cov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694944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949440" y="0"/>
            <a:ext cx="109728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B82F6"/>
                </a:solidFill>
                <a:latin typeface="Microsoft YaHei"/>
                <a:ea typeface="Microsoft YaHei"/>
                <a:cs typeface="Microsoft YaHei"/>
              </a:rPr>
              <a:t>COURSE PROJECT DEFENSE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5852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指挥官战术对抗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14600"/>
            <a:ext cx="5852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B9BB4"/>
                </a:solidFill>
                <a:latin typeface="Microsoft YaHei"/>
                <a:ea typeface="Microsoft YaHei"/>
                <a:cs typeface="Microsoft YaHei"/>
              </a:rPr>
              <a:t>基于自然语言指挥的千人战术对抗游戏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63240"/>
            <a:ext cx="5852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DD4BF"/>
                </a:solidFill>
                <a:latin typeface="Microsoft YaHei"/>
                <a:ea typeface="Microsoft YaHei"/>
                <a:cs typeface="Microsoft YaHei"/>
              </a:rPr>
              <a:t>Python + Pygame  ·  Windows / Linux  ·  单人对战 AI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794760"/>
            <a:ext cx="5760720" cy="1417320"/>
          </a:xfrm>
          <a:prstGeom prst="roundRect">
            <a:avLst>
              <a:gd name="adj" fmla="val 8000"/>
            </a:avLst>
          </a:prstGeom>
          <a:solidFill>
            <a:srgbClr val="1520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977639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B9BB4"/>
                </a:solidFill>
                <a:latin typeface="Microsoft YaHei"/>
                <a:ea typeface="Microsoft YaHei"/>
                <a:cs typeface="Microsoft YaHei"/>
              </a:rPr>
              <a:t>小组成员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34340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组员一 ｜ 模拟、性能与工程实现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75488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组员二 ｜ 交互、地图与智能系统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577840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B9BB4"/>
                </a:solidFill>
                <a:latin typeface="Microsoft YaHei"/>
                <a:ea typeface="Microsoft YaHei"/>
                <a:cs typeface="Microsoft YaHei"/>
              </a:rPr>
              <a:t>2026 · 小组作业答辩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汇报提纲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234440"/>
            <a:ext cx="11155680" cy="868680"/>
          </a:xfrm>
          <a:prstGeom prst="roundRect">
            <a:avLst>
              <a:gd name="adj" fmla="val 8000"/>
            </a:avLst>
          </a:prstGeom>
          <a:solidFill>
            <a:srgbClr val="1520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435608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3B82F6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139903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选题背景与目标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1463040"/>
            <a:ext cx="6217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B9BB4"/>
                </a:solidFill>
                <a:latin typeface="Microsoft YaHei"/>
                <a:ea typeface="Microsoft YaHei"/>
                <a:cs typeface="Microsoft YaHei"/>
              </a:rPr>
              <a:t>为什么做、做成什么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221992"/>
            <a:ext cx="11155680" cy="868680"/>
          </a:xfrm>
          <a:prstGeom prst="roundRect">
            <a:avLst>
              <a:gd name="adj" fmla="val 8000"/>
            </a:avLst>
          </a:prstGeom>
          <a:solidFill>
            <a:srgbClr val="1520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42316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3B82F6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386584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系统设计与架构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2450592"/>
            <a:ext cx="6217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B9BB4"/>
                </a:solidFill>
                <a:latin typeface="Microsoft YaHei"/>
                <a:ea typeface="Microsoft YaHei"/>
                <a:cs typeface="Microsoft YaHei"/>
              </a:rPr>
              <a:t>模块分层与关键协议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209544"/>
            <a:ext cx="11155680" cy="868680"/>
          </a:xfrm>
          <a:prstGeom prst="roundRect">
            <a:avLst>
              <a:gd name="adj" fmla="val 8000"/>
            </a:avLst>
          </a:prstGeom>
          <a:solidFill>
            <a:srgbClr val="1520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410712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3B82F6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337413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核心功能展示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3438144"/>
            <a:ext cx="6217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B9BB4"/>
                </a:solidFill>
                <a:latin typeface="Microsoft YaHei"/>
                <a:ea typeface="Microsoft YaHei"/>
                <a:cs typeface="Microsoft YaHei"/>
              </a:rPr>
              <a:t>战场 / 指挥 / AI / 工程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4197096"/>
            <a:ext cx="11155680" cy="868680"/>
          </a:xfrm>
          <a:prstGeom prst="roundRect">
            <a:avLst>
              <a:gd name="adj" fmla="val 8000"/>
            </a:avLst>
          </a:prstGeom>
          <a:solidFill>
            <a:srgbClr val="1520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398264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3B82F6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436168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技术难点与方案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4425696"/>
            <a:ext cx="6217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B9BB4"/>
                </a:solidFill>
                <a:latin typeface="Microsoft YaHei"/>
                <a:ea typeface="Microsoft YaHei"/>
                <a:cs typeface="Microsoft YaHei"/>
              </a:rPr>
              <a:t>性能、公平性、离线可用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5184648"/>
            <a:ext cx="11155680" cy="868680"/>
          </a:xfrm>
          <a:prstGeom prst="roundRect">
            <a:avLst>
              <a:gd name="adj" fmla="val 8000"/>
            </a:avLst>
          </a:prstGeom>
          <a:solidFill>
            <a:srgbClr val="1520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5385816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3B82F6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53492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分工、成果与总结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0" y="5413248"/>
            <a:ext cx="6217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B9BB4"/>
                </a:solidFill>
                <a:latin typeface="Microsoft YaHei"/>
                <a:ea typeface="Microsoft YaHei"/>
                <a:cs typeface="Microsoft YaHei"/>
              </a:rPr>
              <a:t>我们做了什么、还差什么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6446520"/>
            <a:ext cx="11155680" cy="12700"/>
          </a:xfrm>
          <a:prstGeom prst="rect">
            <a:avLst/>
          </a:prstGeom>
          <a:solidFill>
            <a:srgbClr val="2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B9BB4"/>
                </a:solidFill>
                <a:latin typeface="Microsoft YaHei"/>
                <a:ea typeface="Microsoft YaHei"/>
                <a:cs typeface="Microsoft YaHei"/>
              </a:rPr>
              <a:t>小组作业答辩 · 指挥官战术对抗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6510528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B9BB4"/>
                </a:solidFill>
                <a:latin typeface="Microsoft YaHei"/>
                <a:ea typeface="Microsoft YaHei"/>
                <a:cs typeface="Microsoft YaHei"/>
              </a:rPr>
              <a:t>02 / 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选题背景：RTS 太“点”，大战略太“远”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B9BB4"/>
                </a:solidFill>
                <a:latin typeface="Microsoft YaHei"/>
                <a:ea typeface="Microsoft YaHei"/>
                <a:cs typeface="Microsoft YaHei"/>
              </a:rPr>
              <a:t>我们想做一款“看得见一千名士兵、却只下宏观军令”的指挥官体验。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417320"/>
            <a:ext cx="3611880" cy="1097280"/>
          </a:xfrm>
          <a:prstGeom prst="roundRect">
            <a:avLst>
              <a:gd name="adj" fmla="val 8000"/>
            </a:avLst>
          </a:prstGeom>
          <a:solidFill>
            <a:srgbClr val="1520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417320"/>
            <a:ext cx="73152" cy="1097280"/>
          </a:xfrm>
          <a:prstGeom prst="rect">
            <a:avLst/>
          </a:prstGeom>
          <a:solidFill>
            <a:srgbClr val="E85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63624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痛点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3246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B9BB4"/>
                </a:solidFill>
                <a:latin typeface="Microsoft YaHei"/>
                <a:ea typeface="Microsoft YaHei"/>
                <a:cs typeface="Microsoft YaHei"/>
              </a:rPr>
              <a:t>传统 RTS 微操负担重；
抽象兵团数字缺乏战场临场感。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417320"/>
            <a:ext cx="3611880" cy="1097280"/>
          </a:xfrm>
          <a:prstGeom prst="roundRect">
            <a:avLst>
              <a:gd name="adj" fmla="val 8000"/>
            </a:avLst>
          </a:prstGeom>
          <a:solidFill>
            <a:srgbClr val="1520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97680" y="1417320"/>
            <a:ext cx="73152" cy="10972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1563624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机会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1920240"/>
            <a:ext cx="3246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B9BB4"/>
                </a:solidFill>
                <a:latin typeface="Microsoft YaHei"/>
                <a:ea typeface="Microsoft YaHei"/>
                <a:cs typeface="Microsoft YaHei"/>
              </a:rPr>
              <a:t>自然语言/语音可降低操作门槛；
固定时间步模拟可支撑千人规模。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417320"/>
            <a:ext cx="3611880" cy="1097280"/>
          </a:xfrm>
          <a:prstGeom prst="roundRect">
            <a:avLst>
              <a:gd name="adj" fmla="val 8000"/>
            </a:avLst>
          </a:prstGeom>
          <a:solidFill>
            <a:srgbClr val="1520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92440" y="1417320"/>
            <a:ext cx="73152" cy="109728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1563624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玩家价值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1920240"/>
            <a:ext cx="3246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B9BB4"/>
                </a:solidFill>
                <a:latin typeface="Microsoft YaHei"/>
                <a:ea typeface="Microsoft YaHei"/>
                <a:cs typeface="Microsoft YaHei"/>
              </a:rPr>
              <a:t>当将领下军令，而不是当鼠标点小兵；
信息战、工程与地形成为胜负关键。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2788920"/>
            <a:ext cx="2697480" cy="1234440"/>
          </a:xfrm>
          <a:prstGeom prst="roundRect">
            <a:avLst>
              <a:gd name="adj" fmla="val 8000"/>
            </a:avLst>
          </a:prstGeom>
          <a:solidFill>
            <a:srgbClr val="1B2A42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97180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3B82F6"/>
                </a:solidFill>
                <a:latin typeface="Microsoft YaHei"/>
                <a:ea typeface="Microsoft YaHei"/>
                <a:cs typeface="Microsoft YaHei"/>
              </a:rPr>
              <a:t>500 vs 500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34747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B9BB4"/>
                </a:solidFill>
                <a:latin typeface="Microsoft YaHei"/>
                <a:ea typeface="Microsoft YaHei"/>
                <a:cs typeface="Microsoft YaHei"/>
              </a:rPr>
              <a:t>默认独立士兵规模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337560" y="2788920"/>
            <a:ext cx="2697480" cy="1234440"/>
          </a:xfrm>
          <a:prstGeom prst="roundRect">
            <a:avLst>
              <a:gd name="adj" fmla="val 8000"/>
            </a:avLst>
          </a:prstGeom>
          <a:solidFill>
            <a:srgbClr val="1B2A42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20440" y="297180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3B82F6"/>
                </a:solidFill>
                <a:latin typeface="Microsoft YaHei"/>
                <a:ea typeface="Microsoft YaHei"/>
                <a:cs typeface="Microsoft YaHei"/>
              </a:rPr>
              <a:t>约 10 分钟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20440" y="34747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B9BB4"/>
                </a:solidFill>
                <a:latin typeface="Microsoft YaHei"/>
                <a:ea typeface="Microsoft YaHei"/>
                <a:cs typeface="Microsoft YaHei"/>
              </a:rPr>
              <a:t>单局节奏目标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2788920"/>
            <a:ext cx="2697480" cy="1234440"/>
          </a:xfrm>
          <a:prstGeom prst="roundRect">
            <a:avLst>
              <a:gd name="adj" fmla="val 8000"/>
            </a:avLst>
          </a:prstGeom>
          <a:solidFill>
            <a:srgbClr val="1B2A42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297180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3B82F6"/>
                </a:solidFill>
                <a:latin typeface="Microsoft YaHei"/>
                <a:ea typeface="Microsoft YaHei"/>
                <a:cs typeface="Microsoft YaHei"/>
              </a:rPr>
              <a:t>离线可玩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34747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B9BB4"/>
                </a:solidFill>
                <a:latin typeface="Microsoft YaHei"/>
                <a:ea typeface="Microsoft YaHei"/>
                <a:cs typeface="Microsoft YaHei"/>
              </a:rPr>
              <a:t>无网/无 LLM 仍可完整对局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06840" y="2788920"/>
            <a:ext cx="2697480" cy="1234440"/>
          </a:xfrm>
          <a:prstGeom prst="roundRect">
            <a:avLst>
              <a:gd name="adj" fmla="val 8000"/>
            </a:avLst>
          </a:prstGeom>
          <a:solidFill>
            <a:srgbClr val="1B2A42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89720" y="297180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3B82F6"/>
                </a:solidFill>
                <a:latin typeface="Microsoft YaHei"/>
                <a:ea typeface="Microsoft YaHei"/>
                <a:cs typeface="Microsoft YaHei"/>
              </a:rPr>
              <a:t>双平台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89720" y="34747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B9BB4"/>
                </a:solidFill>
                <a:latin typeface="Microsoft YaHei"/>
                <a:ea typeface="Microsoft YaHei"/>
                <a:cs typeface="Microsoft YaHei"/>
              </a:rPr>
              <a:t>Windows / Linux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4297680"/>
            <a:ext cx="11155680" cy="1783080"/>
          </a:xfrm>
          <a:prstGeom prst="roundRect">
            <a:avLst>
              <a:gd name="adj" fmla="val 8000"/>
            </a:avLst>
          </a:prstGeom>
          <a:solidFill>
            <a:srgbClr val="1520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452628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rPr>
              <a:t>项目定位一句话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4937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可验证的自然语言指挥 + 一千名独立士兵 + 公平战争迷雾下的单人战术对抗。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54406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B9BB4"/>
                </a:solidFill>
                <a:latin typeface="Microsoft YaHei"/>
                <a:ea typeface="Microsoft YaHei"/>
                <a:cs typeface="Microsoft YaHei"/>
              </a:rPr>
              <a:t>技术路线：Python + Pygame-ce，固定时间步模拟，可选 DeepSeek / 本地语音。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6446520"/>
            <a:ext cx="11155680" cy="12700"/>
          </a:xfrm>
          <a:prstGeom prst="rect">
            <a:avLst/>
          </a:prstGeom>
          <a:solidFill>
            <a:srgbClr val="2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B9BB4"/>
                </a:solidFill>
                <a:latin typeface="Microsoft YaHei"/>
                <a:ea typeface="Microsoft YaHei"/>
                <a:cs typeface="Microsoft YaHei"/>
              </a:rPr>
              <a:t>小组作业答辩 · 指挥官战术对抗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0" y="6510528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B9BB4"/>
                </a:solidFill>
                <a:latin typeface="Microsoft YaHei"/>
                <a:ea typeface="Microsoft YaHei"/>
                <a:cs typeface="Microsoft YaHei"/>
              </a:rPr>
              <a:t>03 / 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项目目标：V1.0 必须完成一局完整对战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143000"/>
            <a:ext cx="5486400" cy="4846320"/>
          </a:xfrm>
          <a:prstGeom prst="roundRect">
            <a:avLst>
              <a:gd name="adj" fmla="val 8000"/>
            </a:avLst>
          </a:prstGeom>
          <a:solidFill>
            <a:srgbClr val="1520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DD4BF"/>
                </a:solidFill>
                <a:latin typeface="Microsoft YaHei"/>
                <a:ea typeface="Microsoft YaHei"/>
                <a:cs typeface="Microsoft YaHei"/>
              </a:rPr>
              <a:t>必须做到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828800"/>
            <a:ext cx="4937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▸  500×500 独立单位，固定时间步模拟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▸  将领、护卫与步兵/侦察/工兵/刺客/预备兵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▸  永久探索战争迷雾 + 双方信息隔离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▸  河流硬阻挡，架桥/造船/建塔/开路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▸  文字/鼠标/键盘指挥，语音与大模型可选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▸  本地 AI、存档回放、结算统计、双平台运行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143000"/>
            <a:ext cx="5440680" cy="4846320"/>
          </a:xfrm>
          <a:prstGeom prst="roundRect">
            <a:avLst>
              <a:gd name="adj" fmla="val 8000"/>
            </a:avLst>
          </a:prstGeom>
          <a:solidFill>
            <a:srgbClr val="1520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3258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rPr>
              <a:t>明确不做 / 约束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828800"/>
            <a:ext cx="48463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▸  不做：经济系统、长线养成、真人联机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▸  不做：战役剧情、多语言、复杂科技树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▸  约束：默认规模最低 30 FPS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▸  约束：断网可离线完成整局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▸  约束：AI 只能读阵营可见快照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▸  约束：第三方素材许可证可追溯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446520"/>
            <a:ext cx="11155680" cy="12700"/>
          </a:xfrm>
          <a:prstGeom prst="rect">
            <a:avLst/>
          </a:prstGeom>
          <a:solidFill>
            <a:srgbClr val="2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B9BB4"/>
                </a:solidFill>
                <a:latin typeface="Microsoft YaHei"/>
                <a:ea typeface="Microsoft YaHei"/>
                <a:cs typeface="Microsoft YaHei"/>
              </a:rPr>
              <a:t>小组作业答辩 · 指挥官战术对抗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510528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B9BB4"/>
                </a:solidFill>
                <a:latin typeface="Microsoft YaHei"/>
                <a:ea typeface="Microsoft YaHei"/>
                <a:cs typeface="Microsoft YaHei"/>
              </a:rPr>
              <a:t>04 / 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系统架构：七层分层，命令单向驱动模拟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B9BB4"/>
                </a:solidFill>
                <a:latin typeface="Microsoft YaHei"/>
                <a:ea typeface="Microsoft YaHei"/>
                <a:cs typeface="Microsoft YaHei"/>
              </a:rPr>
              <a:t>输入与 AI 不能直接改单位，只能提交结构化命令；渲染只读状态。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25880"/>
            <a:ext cx="6766560" cy="640080"/>
          </a:xfrm>
          <a:prstGeom prst="roundRect">
            <a:avLst>
              <a:gd name="adj" fmla="val 8000"/>
            </a:avLst>
          </a:prstGeom>
          <a:solidFill>
            <a:srgbClr val="1520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325880"/>
            <a:ext cx="91440" cy="6400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72184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B82F6"/>
                </a:solidFill>
                <a:latin typeface="Microsoft YaHei"/>
                <a:ea typeface="Microsoft YaHei"/>
                <a:cs typeface="Microsoft YaHei"/>
              </a:rPr>
              <a:t>表现层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0" y="1472184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B9BB4"/>
                </a:solidFill>
                <a:latin typeface="Microsoft YaHei"/>
                <a:ea typeface="Microsoft YaHei"/>
                <a:cs typeface="Microsoft YaHei"/>
              </a:rPr>
              <a:t>Pygame 渲染 / HUD / 回放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039112"/>
            <a:ext cx="6766560" cy="640080"/>
          </a:xfrm>
          <a:prstGeom prst="roundRect">
            <a:avLst>
              <a:gd name="adj" fmla="val 8000"/>
            </a:avLst>
          </a:prstGeom>
          <a:solidFill>
            <a:srgbClr val="1520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2039112"/>
            <a:ext cx="91440" cy="6400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185416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B82F6"/>
                </a:solidFill>
                <a:latin typeface="Microsoft YaHei"/>
                <a:ea typeface="Microsoft YaHei"/>
                <a:cs typeface="Microsoft YaHei"/>
              </a:rPr>
              <a:t>输入层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560" y="2185416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B9BB4"/>
                </a:solidFill>
                <a:latin typeface="Microsoft YaHei"/>
                <a:ea typeface="Microsoft YaHei"/>
                <a:cs typeface="Microsoft YaHei"/>
              </a:rPr>
              <a:t>语音 · 文字 · 鼠标 · 键盘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752344"/>
            <a:ext cx="6766560" cy="640080"/>
          </a:xfrm>
          <a:prstGeom prst="roundRect">
            <a:avLst>
              <a:gd name="adj" fmla="val 8000"/>
            </a:avLst>
          </a:prstGeom>
          <a:solidFill>
            <a:srgbClr val="1520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2752344"/>
            <a:ext cx="91440" cy="64008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898648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DD4BF"/>
                </a:solidFill>
                <a:latin typeface="Microsoft YaHei"/>
                <a:ea typeface="Microsoft YaHei"/>
                <a:cs typeface="Microsoft YaHei"/>
              </a:rPr>
              <a:t>命令层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4560" y="2898648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B9BB4"/>
                </a:solidFill>
                <a:latin typeface="Microsoft YaHei"/>
                <a:ea typeface="Microsoft YaHei"/>
                <a:cs typeface="Microsoft YaHei"/>
              </a:rPr>
              <a:t>Command · 校验 · 队列 · 反馈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465576"/>
            <a:ext cx="6766560" cy="640080"/>
          </a:xfrm>
          <a:prstGeom prst="roundRect">
            <a:avLst>
              <a:gd name="adj" fmla="val 8000"/>
            </a:avLst>
          </a:prstGeom>
          <a:solidFill>
            <a:srgbClr val="1520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3465576"/>
            <a:ext cx="91440" cy="64008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61188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DD4BF"/>
                </a:solidFill>
                <a:latin typeface="Microsoft YaHei"/>
                <a:ea typeface="Microsoft YaHei"/>
                <a:cs typeface="Microsoft YaHei"/>
              </a:rPr>
              <a:t>AI 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4560" y="36118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B9BB4"/>
                </a:solidFill>
                <a:latin typeface="Microsoft YaHei"/>
                <a:ea typeface="Microsoft YaHei"/>
                <a:cs typeface="Microsoft YaHei"/>
              </a:rPr>
              <a:t>战略 / 战术 · 大模型适配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4178808"/>
            <a:ext cx="6766560" cy="640080"/>
          </a:xfrm>
          <a:prstGeom prst="roundRect">
            <a:avLst>
              <a:gd name="adj" fmla="val 8000"/>
            </a:avLst>
          </a:prstGeom>
          <a:solidFill>
            <a:srgbClr val="1520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" y="4178808"/>
            <a:ext cx="91440" cy="6400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4325112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rPr>
              <a:t>感知层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4560" y="4325112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B9BB4"/>
                </a:solidFill>
                <a:latin typeface="Microsoft YaHei"/>
                <a:ea typeface="Microsoft YaHei"/>
                <a:cs typeface="Microsoft YaHei"/>
              </a:rPr>
              <a:t>战争迷雾 · ObservationSnapshot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4892040"/>
            <a:ext cx="6766560" cy="640080"/>
          </a:xfrm>
          <a:prstGeom prst="roundRect">
            <a:avLst>
              <a:gd name="adj" fmla="val 8000"/>
            </a:avLst>
          </a:prstGeom>
          <a:solidFill>
            <a:srgbClr val="1520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2920" y="4892040"/>
            <a:ext cx="91440" cy="640080"/>
          </a:xfrm>
          <a:prstGeom prst="rect">
            <a:avLst/>
          </a:prstGeom>
          <a:solidFill>
            <a:srgbClr val="E85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5038344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85D4C"/>
                </a:solidFill>
                <a:latin typeface="Microsoft YaHei"/>
                <a:ea typeface="Microsoft YaHei"/>
                <a:cs typeface="Microsoft YaHei"/>
              </a:rPr>
              <a:t>模拟层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4560" y="5038344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B9BB4"/>
                </a:solidFill>
                <a:latin typeface="Microsoft YaHei"/>
                <a:ea typeface="Microsoft YaHei"/>
                <a:cs typeface="Microsoft YaHei"/>
              </a:rPr>
              <a:t>固定时间步 · 单位 / 战斗 / 工程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5605272"/>
            <a:ext cx="6766560" cy="640080"/>
          </a:xfrm>
          <a:prstGeom prst="roundRect">
            <a:avLst>
              <a:gd name="adj" fmla="val 8000"/>
            </a:avLst>
          </a:prstGeom>
          <a:solidFill>
            <a:srgbClr val="1520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02920" y="5605272"/>
            <a:ext cx="91440" cy="640080"/>
          </a:xfrm>
          <a:prstGeom prst="rect">
            <a:avLst/>
          </a:prstGeom>
          <a:solidFill>
            <a:srgbClr val="8B9B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5751576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8B9BB4"/>
                </a:solidFill>
                <a:latin typeface="Microsoft YaHei"/>
                <a:ea typeface="Microsoft YaHei"/>
                <a:cs typeface="Microsoft YaHei"/>
              </a:rPr>
              <a:t>持久化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94560" y="5751576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B9BB4"/>
                </a:solidFill>
                <a:latin typeface="Microsoft YaHei"/>
                <a:ea typeface="Microsoft YaHei"/>
                <a:cs typeface="Microsoft YaHei"/>
              </a:rPr>
              <a:t>存档 · 回放 · 设置 · 统计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498079" y="1325880"/>
            <a:ext cx="4160520" cy="2286000"/>
          </a:xfrm>
          <a:prstGeom prst="roundRect">
            <a:avLst>
              <a:gd name="adj" fmla="val 8000"/>
            </a:avLst>
          </a:prstGeom>
          <a:solidFill>
            <a:srgbClr val="1520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498079" y="1325880"/>
            <a:ext cx="73152" cy="2286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26679" y="1472184"/>
            <a:ext cx="3794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四条关键协议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26679" y="1828800"/>
            <a:ext cx="3794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B9BB4"/>
                </a:solidFill>
                <a:latin typeface="Microsoft YaHei"/>
                <a:ea typeface="Microsoft YaHei"/>
                <a:cs typeface="Microsoft YaHei"/>
              </a:rPr>
              <a:t>Command：想做什么
ObservationSnapshot：依法能看见什么
GameEvent：已发生什么
SaveSnapshot：如何完整恢复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498079" y="3794760"/>
            <a:ext cx="4160520" cy="2240280"/>
          </a:xfrm>
          <a:prstGeom prst="roundRect">
            <a:avLst>
              <a:gd name="adj" fmla="val 8000"/>
            </a:avLst>
          </a:prstGeom>
          <a:solidFill>
            <a:srgbClr val="1520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498079" y="3794760"/>
            <a:ext cx="73152" cy="22402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726679" y="3941064"/>
            <a:ext cx="3794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依赖方向（防作弊）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26679" y="4297680"/>
            <a:ext cx="379476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B9BB4"/>
                </a:solidFill>
                <a:latin typeface="Microsoft YaHei"/>
                <a:ea typeface="Microsoft YaHei"/>
                <a:cs typeface="Microsoft YaHei"/>
              </a:rPr>
              <a:t>模拟层不依赖 UI / 网络 / 麦克风
AI 只读阵营快照
回放只记结构化命令
公共协议变更需双方评审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02920" y="6446520"/>
            <a:ext cx="11155680" cy="12700"/>
          </a:xfrm>
          <a:prstGeom prst="rect">
            <a:avLst/>
          </a:prstGeom>
          <a:solidFill>
            <a:srgbClr val="2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B9BB4"/>
                </a:solidFill>
                <a:latin typeface="Microsoft YaHei"/>
                <a:ea typeface="Microsoft YaHei"/>
                <a:cs typeface="Microsoft YaHei"/>
              </a:rPr>
              <a:t>小组作业答辩 · 指挥官战术对抗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15600" y="6510528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B9BB4"/>
                </a:solidFill>
                <a:latin typeface="Microsoft YaHei"/>
                <a:ea typeface="Microsoft YaHei"/>
                <a:cs typeface="Microsoft YaHei"/>
              </a:rPr>
              <a:t>05 / 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核心功能 ①：可验证公平的战场与迷雾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143000"/>
            <a:ext cx="11155680" cy="1097280"/>
          </a:xfrm>
          <a:prstGeom prst="roundRect">
            <a:avLst>
              <a:gd name="adj" fmla="val 8000"/>
            </a:avLst>
          </a:prstGeom>
          <a:solidFill>
            <a:srgbClr val="1520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91440" cy="10972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B82F6"/>
                </a:solidFill>
                <a:latin typeface="Microsoft YaHei"/>
                <a:ea typeface="Microsoft YaHei"/>
                <a:cs typeface="Microsoft YaHei"/>
              </a:rPr>
              <a:t>地图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1417320"/>
            <a:ext cx="9052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连续曲流河宽 4–12 格；草场/森林/沼泽/道路；六座对称村庄；种子可复现、180° 公平。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377440"/>
            <a:ext cx="11155680" cy="1097280"/>
          </a:xfrm>
          <a:prstGeom prst="roundRect">
            <a:avLst>
              <a:gd name="adj" fmla="val 8000"/>
            </a:avLst>
          </a:prstGeom>
          <a:solidFill>
            <a:srgbClr val="1520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2377440"/>
            <a:ext cx="91440" cy="109728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69748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DD4BF"/>
                </a:solidFill>
                <a:latin typeface="Microsoft YaHei"/>
                <a:ea typeface="Microsoft YaHei"/>
                <a:cs typeface="Microsoft YaHei"/>
              </a:rPr>
              <a:t>迷雾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2651760"/>
            <a:ext cx="9052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永久探索：部队经过像橡皮擦；敌军进入已探索区即显示；未探索区不泄露真实地形。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611880"/>
            <a:ext cx="11155680" cy="1097280"/>
          </a:xfrm>
          <a:prstGeom prst="roundRect">
            <a:avLst>
              <a:gd name="adj" fmla="val 8000"/>
            </a:avLst>
          </a:prstGeom>
          <a:solidFill>
            <a:srgbClr val="1520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3611880"/>
            <a:ext cx="91440" cy="10972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93192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rPr>
              <a:t>工程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3886200"/>
            <a:ext cx="9052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架桥按河宽算工程量；造船渡河；砍树开路；建塔后工兵自动驻塔转弓箭手。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4846320"/>
            <a:ext cx="11155680" cy="1097280"/>
          </a:xfrm>
          <a:prstGeom prst="roundRect">
            <a:avLst>
              <a:gd name="adj" fmla="val 8000"/>
            </a:avLst>
          </a:prstGeom>
          <a:solidFill>
            <a:srgbClr val="1520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4846320"/>
            <a:ext cx="91440" cy="1097280"/>
          </a:xfrm>
          <a:prstGeom prst="rect">
            <a:avLst/>
          </a:prstGeom>
          <a:solidFill>
            <a:srgbClr val="E85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516636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85D4C"/>
                </a:solidFill>
                <a:latin typeface="Microsoft YaHei"/>
                <a:ea typeface="Microsoft YaHei"/>
                <a:cs typeface="Microsoft YaHei"/>
              </a:rPr>
              <a:t>表现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5120640"/>
            <a:ext cx="9052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像素战场最近邻缩放；远景战术符号 / 近景人物贴图；中世纪指挥台 HUD。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6446520"/>
            <a:ext cx="11155680" cy="12700"/>
          </a:xfrm>
          <a:prstGeom prst="rect">
            <a:avLst/>
          </a:prstGeom>
          <a:solidFill>
            <a:srgbClr val="2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B9BB4"/>
                </a:solidFill>
                <a:latin typeface="Microsoft YaHei"/>
                <a:ea typeface="Microsoft YaHei"/>
                <a:cs typeface="Microsoft YaHei"/>
              </a:rPr>
              <a:t>小组作业答辩 · 指挥官战术对抗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6510528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B9BB4"/>
                </a:solidFill>
                <a:latin typeface="Microsoft YaHei"/>
                <a:ea typeface="Microsoft YaHei"/>
                <a:cs typeface="Microsoft YaHei"/>
              </a:rPr>
              <a:t>06 / 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核心功能 ②：自然语言指挥（项目最大亮点）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B9BB4"/>
                </a:solidFill>
                <a:latin typeface="Microsoft YaHei"/>
                <a:ea typeface="Microsoft YaHei"/>
                <a:cs typeface="Microsoft YaHei"/>
              </a:rPr>
              <a:t>语音/文字 → 意图解析 → 结构化命令 → 合法性校验 → 执行与可视反馈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417320"/>
            <a:ext cx="2103120" cy="1234440"/>
          </a:xfrm>
          <a:prstGeom prst="roundRect">
            <a:avLst>
              <a:gd name="adj" fmla="val 8000"/>
            </a:avLst>
          </a:prstGeom>
          <a:solidFill>
            <a:srgbClr val="1520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B82F6"/>
                </a:solidFill>
                <a:latin typeface="Microsoft YaHei"/>
                <a:ea typeface="Microsoft YaHei"/>
                <a:cs typeface="Microsoft YaHei"/>
              </a:rPr>
              <a:t>1 输入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B9BB4"/>
                </a:solidFill>
                <a:latin typeface="Microsoft YaHei"/>
                <a:ea typeface="Microsoft YaHei"/>
                <a:cs typeface="Microsoft YaHei"/>
              </a:rPr>
              <a:t>语音 / 文字 / 鼠标键盘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0" y="178308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DD4BF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34640" y="1417320"/>
            <a:ext cx="2103120" cy="1234440"/>
          </a:xfrm>
          <a:prstGeom prst="roundRect">
            <a:avLst>
              <a:gd name="adj" fmla="val 8000"/>
            </a:avLst>
          </a:prstGeom>
          <a:solidFill>
            <a:srgbClr val="1520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71800" y="15544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B82F6"/>
                </a:solidFill>
                <a:latin typeface="Microsoft YaHei"/>
                <a:ea typeface="Microsoft YaHei"/>
                <a:cs typeface="Microsoft YaHei"/>
              </a:rPr>
              <a:t>2 解析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71800" y="19659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B9BB4"/>
                </a:solidFill>
                <a:latin typeface="Microsoft YaHei"/>
                <a:ea typeface="Microsoft YaHei"/>
                <a:cs typeface="Microsoft YaHei"/>
              </a:rPr>
              <a:t>本地规则 / 可选 DeepSeek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92040" y="178308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DD4BF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66360" y="1417320"/>
            <a:ext cx="2103120" cy="1234440"/>
          </a:xfrm>
          <a:prstGeom prst="roundRect">
            <a:avLst>
              <a:gd name="adj" fmla="val 8000"/>
            </a:avLst>
          </a:prstGeom>
          <a:solidFill>
            <a:srgbClr val="1520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03520" y="15544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B82F6"/>
                </a:solidFill>
                <a:latin typeface="Microsoft YaHei"/>
                <a:ea typeface="Microsoft YaHei"/>
                <a:cs typeface="Microsoft YaHei"/>
              </a:rPr>
              <a:t>3 校验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0" y="19659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B9BB4"/>
                </a:solidFill>
                <a:latin typeface="Microsoft YaHei"/>
                <a:ea typeface="Microsoft YaHei"/>
                <a:cs typeface="Microsoft YaHei"/>
              </a:rPr>
              <a:t>可见信息与合法性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178308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DD4BF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80" y="1417320"/>
            <a:ext cx="2103120" cy="1234440"/>
          </a:xfrm>
          <a:prstGeom prst="roundRect">
            <a:avLst>
              <a:gd name="adj" fmla="val 8000"/>
            </a:avLst>
          </a:prstGeom>
          <a:solidFill>
            <a:srgbClr val="1520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35240" y="15544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B82F6"/>
                </a:solidFill>
                <a:latin typeface="Microsoft YaHei"/>
                <a:ea typeface="Microsoft YaHei"/>
                <a:cs typeface="Microsoft YaHei"/>
              </a:rPr>
              <a:t>4 执行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35240" y="19659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B9BB4"/>
                </a:solidFill>
                <a:latin typeface="Microsoft YaHei"/>
                <a:ea typeface="Microsoft YaHei"/>
                <a:cs typeface="Microsoft YaHei"/>
              </a:rPr>
              <a:t>模拟层任务分派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55480" y="178308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DD4BF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829800" y="1417320"/>
            <a:ext cx="2103120" cy="1234440"/>
          </a:xfrm>
          <a:prstGeom prst="roundRect">
            <a:avLst>
              <a:gd name="adj" fmla="val 8000"/>
            </a:avLst>
          </a:prstGeom>
          <a:solidFill>
            <a:srgbClr val="1520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966960" y="15544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B82F6"/>
                </a:solidFill>
                <a:latin typeface="Microsoft YaHei"/>
                <a:ea typeface="Microsoft YaHei"/>
                <a:cs typeface="Microsoft YaHei"/>
              </a:rPr>
              <a:t>5 反馈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66960" y="19659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B9BB4"/>
                </a:solidFill>
                <a:latin typeface="Microsoft YaHei"/>
                <a:ea typeface="Microsoft YaHei"/>
                <a:cs typeface="Microsoft YaHei"/>
              </a:rPr>
              <a:t>成功/失败原因可见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2926080"/>
            <a:ext cx="6858000" cy="3108960"/>
          </a:xfrm>
          <a:prstGeom prst="roundRect">
            <a:avLst>
              <a:gd name="adj" fmla="val 8000"/>
            </a:avLst>
          </a:prstGeom>
          <a:solidFill>
            <a:srgbClr val="1520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31089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DD4BF"/>
                </a:solidFill>
                <a:latin typeface="Microsoft YaHei"/>
                <a:ea typeface="Microsoft YaHei"/>
                <a:cs typeface="Microsoft YaHei"/>
              </a:rPr>
              <a:t>示例军令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3566160"/>
            <a:ext cx="63093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▸  第一侦察队前往北部中央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▸  20名初始兵分化为工兵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▸  工兵队在中央架桥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▸  第1组集火敌方将领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▸  第6组进入防御塔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543800" y="2926080"/>
            <a:ext cx="4114800" cy="3108960"/>
          </a:xfrm>
          <a:prstGeom prst="roundRect">
            <a:avLst>
              <a:gd name="adj" fmla="val 8000"/>
            </a:avLst>
          </a:prstGeom>
          <a:solidFill>
            <a:srgbClr val="1520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543800" y="2926080"/>
            <a:ext cx="73152" cy="31089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0" y="3072384"/>
            <a:ext cx="3749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工程细节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0" y="3429000"/>
            <a:ext cx="37490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B9BB4"/>
                </a:solidFill>
                <a:latin typeface="Microsoft YaHei"/>
                <a:ea typeface="Microsoft YaHei"/>
                <a:cs typeface="Microsoft YaHei"/>
              </a:rPr>
              <a:t>· 中文 IME 候选窗定位
· 复合指令自动切分
· 上下文命令建议补全
· 歧义最多 3 个候选
· 断网：R 重试 / O 离线 / Q 紧急存档
· 指令书说明 AI 能力边界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6446520"/>
            <a:ext cx="11155680" cy="12700"/>
          </a:xfrm>
          <a:prstGeom prst="rect">
            <a:avLst/>
          </a:prstGeom>
          <a:solidFill>
            <a:srgbClr val="2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B9BB4"/>
                </a:solidFill>
                <a:latin typeface="Microsoft YaHei"/>
                <a:ea typeface="Microsoft YaHei"/>
                <a:cs typeface="Microsoft YaHei"/>
              </a:rPr>
              <a:t>小组作业答辩 · 指挥官战术对抗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0" y="6510528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B9BB4"/>
                </a:solidFill>
                <a:latin typeface="Microsoft YaHei"/>
                <a:ea typeface="Microsoft YaHei"/>
                <a:cs typeface="Microsoft YaHei"/>
              </a:rPr>
              <a:t>07 / 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核心功能 ③：本地 AI 与信息隔离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234440"/>
            <a:ext cx="3657600" cy="2468880"/>
          </a:xfrm>
          <a:prstGeom prst="roundRect">
            <a:avLst>
              <a:gd name="adj" fmla="val 8000"/>
            </a:avLst>
          </a:prstGeom>
          <a:solidFill>
            <a:srgbClr val="1520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1234440"/>
            <a:ext cx="73152" cy="24688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80744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双层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3291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B9BB4"/>
                </a:solidFill>
                <a:latin typeface="Microsoft YaHei"/>
                <a:ea typeface="Microsoft YaHei"/>
                <a:cs typeface="Microsoft YaHei"/>
              </a:rPr>
              <a:t>战略层 ~2s：目标、分兵、工程、征召
战术层 ~0.25s：接敌、走位、护卫、撤退
难度三档；自动作战可开关，手动随时覆盖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234440"/>
            <a:ext cx="3657600" cy="2468880"/>
          </a:xfrm>
          <a:prstGeom prst="roundRect">
            <a:avLst>
              <a:gd name="adj" fmla="val 8000"/>
            </a:avLst>
          </a:prstGeom>
          <a:solidFill>
            <a:srgbClr val="1520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43400" y="1234440"/>
            <a:ext cx="73152" cy="246888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380744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信息隔离怎么做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1737360"/>
            <a:ext cx="3291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B9BB4"/>
                </a:solidFill>
                <a:latin typeface="Microsoft YaHei"/>
                <a:ea typeface="Microsoft YaHei"/>
                <a:cs typeface="Microsoft YaHei"/>
              </a:rPr>
              <a:t>完整战场 → 阵营过滤 → Snapshot → AI/UI
未探索区不显示真实地形
寻路缓存只含己方已知桥
统计与音效不做侧信道泄密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79" y="1234440"/>
            <a:ext cx="3474720" cy="2468880"/>
          </a:xfrm>
          <a:prstGeom prst="roundRect">
            <a:avLst>
              <a:gd name="adj" fmla="val 8000"/>
            </a:avLst>
          </a:prstGeom>
          <a:solidFill>
            <a:srgbClr val="1520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183879" y="1234440"/>
            <a:ext cx="73152" cy="24688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9" y="1380744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战术行为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79" y="173736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B9BB4"/>
                </a:solidFill>
                <a:latin typeface="Microsoft YaHei"/>
                <a:ea typeface="Microsoft YaHei"/>
                <a:cs typeface="Microsoft YaHei"/>
              </a:rPr>
              <a:t>侦察开图绕翼 · 低血后撤
刺客集火将领 · 护卫拦截
将领阵亡后进入拼命模式
工兵按局势：桥 → 船 → 塔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977639"/>
            <a:ext cx="11155680" cy="2057400"/>
          </a:xfrm>
          <a:prstGeom prst="roundRect">
            <a:avLst>
              <a:gd name="adj" fmla="val 8000"/>
            </a:avLst>
          </a:prstGeom>
          <a:solidFill>
            <a:srgbClr val="1B2A42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1605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DD4BF"/>
                </a:solidFill>
                <a:latin typeface="Microsoft YaHei"/>
                <a:ea typeface="Microsoft YaHei"/>
                <a:cs typeface="Microsoft YaHei"/>
              </a:rPr>
              <a:t>公平性设计要点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61772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▸  AI 不读完整战场对象、未发现坐标或对方秘密命令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▸  界面不通过计数、音效泄露迷雾外实时敌情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▸  公平靠数据边界，而不是让 AI“假装看不见”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6446520"/>
            <a:ext cx="11155680" cy="12700"/>
          </a:xfrm>
          <a:prstGeom prst="rect">
            <a:avLst/>
          </a:prstGeom>
          <a:solidFill>
            <a:srgbClr val="2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B9BB4"/>
                </a:solidFill>
                <a:latin typeface="Microsoft YaHei"/>
                <a:ea typeface="Microsoft YaHei"/>
                <a:cs typeface="Microsoft YaHei"/>
              </a:rPr>
              <a:t>小组作业答辩 · 指挥官战术对抗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0" y="6510528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B9BB4"/>
                </a:solidFill>
                <a:latin typeface="Microsoft YaHei"/>
                <a:ea typeface="Microsoft YaHei"/>
                <a:cs typeface="Microsoft YaHei"/>
              </a:rPr>
              <a:t>08 / 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技术难点：三个我们真正踩过的坑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97280"/>
            <a:ext cx="2377440" cy="4572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880360" y="1097280"/>
            <a:ext cx="3840480" cy="4572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720840" y="1097280"/>
            <a:ext cx="4937760" cy="4572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难点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118872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现象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11887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解决方案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554480"/>
            <a:ext cx="2377440" cy="868680"/>
          </a:xfrm>
          <a:prstGeom prst="rect">
            <a:avLst/>
          </a:prstGeom>
          <a:solidFill>
            <a:srgbClr val="1520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880360" y="1554480"/>
            <a:ext cx="3840480" cy="868680"/>
          </a:xfrm>
          <a:prstGeom prst="rect">
            <a:avLst/>
          </a:prstGeom>
          <a:solidFill>
            <a:srgbClr val="1520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720840" y="1554480"/>
            <a:ext cx="4937760" cy="868680"/>
          </a:xfrm>
          <a:prstGeom prst="rect">
            <a:avLst/>
          </a:prstGeom>
          <a:solidFill>
            <a:srgbClr val="1520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810512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85D4C"/>
                </a:solidFill>
                <a:latin typeface="Microsoft YaHei"/>
                <a:ea typeface="Microsoft YaHei"/>
                <a:cs typeface="Microsoft YaHei"/>
              </a:rPr>
              <a:t>千人性能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1755648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B9BB4"/>
                </a:solidFill>
                <a:latin typeface="Microsoft YaHei"/>
                <a:ea typeface="Microsoft YaHei"/>
                <a:cs typeface="Microsoft YaHei"/>
              </a:rPr>
              <a:t>1000 单位寻路/碰撞导致卡顿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1719072"/>
            <a:ext cx="4663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固定时间步 + 空间哈希 + 流场共享路径 + 分频更新 + 地形缓存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2423160"/>
            <a:ext cx="2377440" cy="868680"/>
          </a:xfrm>
          <a:prstGeom prst="rect">
            <a:avLst/>
          </a:prstGeom>
          <a:solidFill>
            <a:srgbClr val="1B2A42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880360" y="2423160"/>
            <a:ext cx="3840480" cy="868680"/>
          </a:xfrm>
          <a:prstGeom prst="rect">
            <a:avLst/>
          </a:prstGeom>
          <a:solidFill>
            <a:srgbClr val="1B2A42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720840" y="2423160"/>
            <a:ext cx="4937760" cy="868680"/>
          </a:xfrm>
          <a:prstGeom prst="rect">
            <a:avLst/>
          </a:prstGeom>
          <a:solidFill>
            <a:srgbClr val="1B2A42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679192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85D4C"/>
                </a:solidFill>
                <a:latin typeface="Microsoft YaHei"/>
                <a:ea typeface="Microsoft YaHei"/>
                <a:cs typeface="Microsoft YaHei"/>
              </a:rPr>
              <a:t>桥面拥堵错位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17520" y="2624328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B9BB4"/>
                </a:solidFill>
                <a:latin typeface="Microsoft YaHei"/>
                <a:ea typeface="Microsoft YaHei"/>
                <a:cs typeface="Microsoft YaHei"/>
              </a:rPr>
              <a:t>桥上交战被碰撞推入开放水面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2587752"/>
            <a:ext cx="4663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逐帧渡河合法性校验 + 定向矩形桥面通行区约束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3291840"/>
            <a:ext cx="2377440" cy="868680"/>
          </a:xfrm>
          <a:prstGeom prst="rect">
            <a:avLst/>
          </a:prstGeom>
          <a:solidFill>
            <a:srgbClr val="1520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880360" y="3291840"/>
            <a:ext cx="3840480" cy="868680"/>
          </a:xfrm>
          <a:prstGeom prst="rect">
            <a:avLst/>
          </a:prstGeom>
          <a:solidFill>
            <a:srgbClr val="1520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720840" y="3291840"/>
            <a:ext cx="4937760" cy="868680"/>
          </a:xfrm>
          <a:prstGeom prst="rect">
            <a:avLst/>
          </a:prstGeom>
          <a:solidFill>
            <a:srgbClr val="1520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3547872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85D4C"/>
                </a:solidFill>
                <a:latin typeface="Microsoft YaHei"/>
                <a:ea typeface="Microsoft YaHei"/>
                <a:cs typeface="Microsoft YaHei"/>
              </a:rPr>
              <a:t>自动作战僵持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17520" y="3493008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B9BB4"/>
                </a:solidFill>
                <a:latin typeface="Microsoft YaHei"/>
                <a:ea typeface="Microsoft YaHei"/>
                <a:cs typeface="Microsoft YaHei"/>
              </a:rPr>
              <a:t>桥未完工时改派造船，双方隔河挂机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3456432"/>
            <a:ext cx="4663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AI 工程优先级：优先架桥，未完成不切换造船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4160520"/>
            <a:ext cx="2377440" cy="868680"/>
          </a:xfrm>
          <a:prstGeom prst="rect">
            <a:avLst/>
          </a:prstGeom>
          <a:solidFill>
            <a:srgbClr val="1B2A42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880360" y="4160520"/>
            <a:ext cx="3840480" cy="868680"/>
          </a:xfrm>
          <a:prstGeom prst="rect">
            <a:avLst/>
          </a:prstGeom>
          <a:solidFill>
            <a:srgbClr val="1B2A42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720840" y="4160520"/>
            <a:ext cx="4937760" cy="868680"/>
          </a:xfrm>
          <a:prstGeom prst="rect">
            <a:avLst/>
          </a:prstGeom>
          <a:solidFill>
            <a:srgbClr val="1B2A42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416552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85D4C"/>
                </a:solidFill>
                <a:latin typeface="Microsoft YaHei"/>
                <a:ea typeface="Microsoft YaHei"/>
                <a:cs typeface="Microsoft YaHei"/>
              </a:rPr>
              <a:t>高分屏模糊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017520" y="4361688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B9BB4"/>
                </a:solidFill>
                <a:latin typeface="Microsoft YaHei"/>
                <a:ea typeface="Microsoft YaHei"/>
                <a:cs typeface="Microsoft YaHei"/>
              </a:rPr>
              <a:t>文字与像素战场放大后发虚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4325112"/>
            <a:ext cx="4663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SCALED + 最近邻战场缩放 + 文字按最终分辨率重绘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5029200"/>
            <a:ext cx="2377440" cy="868680"/>
          </a:xfrm>
          <a:prstGeom prst="rect">
            <a:avLst/>
          </a:prstGeom>
          <a:solidFill>
            <a:srgbClr val="1520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880360" y="5029200"/>
            <a:ext cx="3840480" cy="868680"/>
          </a:xfrm>
          <a:prstGeom prst="rect">
            <a:avLst/>
          </a:prstGeom>
          <a:solidFill>
            <a:srgbClr val="1520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720840" y="5029200"/>
            <a:ext cx="4937760" cy="868680"/>
          </a:xfrm>
          <a:prstGeom prst="rect">
            <a:avLst/>
          </a:prstGeom>
          <a:solidFill>
            <a:srgbClr val="1520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5285232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85D4C"/>
                </a:solidFill>
                <a:latin typeface="Microsoft YaHei"/>
                <a:ea typeface="Microsoft YaHei"/>
                <a:cs typeface="Microsoft YaHei"/>
              </a:rPr>
              <a:t>断网打断体验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017520" y="5230368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B9BB4"/>
                </a:solidFill>
                <a:latin typeface="Microsoft YaHei"/>
                <a:ea typeface="Microsoft YaHei"/>
                <a:cs typeface="Microsoft YaHei"/>
              </a:rPr>
              <a:t>大模型/语音失败导致无法继续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0" y="5193792"/>
            <a:ext cx="4663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本地规则解析器兜底 + 暂停/重试/离线/紧急存档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" y="6446520"/>
            <a:ext cx="11155680" cy="12700"/>
          </a:xfrm>
          <a:prstGeom prst="rect">
            <a:avLst/>
          </a:prstGeom>
          <a:solidFill>
            <a:srgbClr val="2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B9BB4"/>
                </a:solidFill>
                <a:latin typeface="Microsoft YaHei"/>
                <a:ea typeface="Microsoft YaHei"/>
                <a:cs typeface="Microsoft YaHei"/>
              </a:rPr>
              <a:t>小组作业答辩 · 指挥官战术对抗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15600" y="6510528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B9BB4"/>
                </a:solidFill>
                <a:latin typeface="Microsoft YaHei"/>
                <a:ea typeface="Microsoft YaHei"/>
                <a:cs typeface="Microsoft YaHei"/>
              </a:rPr>
              <a:t>09 / 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团队协作：主责模块 + 交叉评审 + 阶段集成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143000"/>
            <a:ext cx="5486400" cy="2606040"/>
          </a:xfrm>
          <a:prstGeom prst="roundRect">
            <a:avLst>
              <a:gd name="adj" fmla="val 8000"/>
            </a:avLst>
          </a:prstGeom>
          <a:solidFill>
            <a:srgbClr val="1520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73152" cy="26060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9304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组员一｜模拟与性能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512064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B9BB4"/>
                </a:solidFill>
                <a:latin typeface="Microsoft YaHei"/>
                <a:ea typeface="Microsoft YaHei"/>
                <a:cs typeface="Microsoft YaHei"/>
              </a:rPr>
              <a:t>· 固定时间步、实体模型与配置
· 移动 / 流场寻路 / 弹性碰撞
· 战斗结算、兵种与工程设施
· 命令执行器与模拟合法性
· 存档回放底层与性能基准
· 测试：确定性、碰撞、500v500 长压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143000"/>
            <a:ext cx="5440680" cy="2606040"/>
          </a:xfrm>
          <a:prstGeom prst="roundRect">
            <a:avLst>
              <a:gd name="adj" fmla="val 8000"/>
            </a:avLst>
          </a:prstGeom>
          <a:solidFill>
            <a:srgbClr val="1520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0" y="1143000"/>
            <a:ext cx="73152" cy="260604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289304"/>
            <a:ext cx="5074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组员二｜交互与智能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1645920"/>
            <a:ext cx="507492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B9BB4"/>
                </a:solidFill>
                <a:latin typeface="Microsoft YaHei"/>
                <a:ea typeface="Microsoft YaHei"/>
                <a:cs typeface="Microsoft YaHei"/>
              </a:rPr>
              <a:t>· Pygame 外壳、场景与摄像机
· HUD、菜单、缩略图与教程入口
· 迷雾感知、命令解析与指挥面板
· 本地战略 AI 与难度配置
· 语音/大模型适配与离线降级
· 测试：命令解析、信息泄漏、地图公平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4023360"/>
            <a:ext cx="11155680" cy="2011680"/>
          </a:xfrm>
          <a:prstGeom prst="roundRect">
            <a:avLst>
              <a:gd name="adj" fmla="val 8000"/>
            </a:avLst>
          </a:prstGeom>
          <a:solidFill>
            <a:srgbClr val="1B2A42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42062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B82F6"/>
                </a:solidFill>
                <a:latin typeface="Microsoft YaHei"/>
                <a:ea typeface="Microsoft YaHei"/>
                <a:cs typeface="Microsoft YaHei"/>
              </a:rPr>
              <a:t>协作机制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61772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▸  主责模块清晰，避免两人同时改核心文件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▸  公共协议 / 存档格式 / 主循环变更需双方评审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▸  每个内部阶段都产出可运行集成版本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▸  共同负责：玩法规则、公平性审计、跨平台发布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6446520"/>
            <a:ext cx="11155680" cy="12700"/>
          </a:xfrm>
          <a:prstGeom prst="rect">
            <a:avLst/>
          </a:prstGeom>
          <a:solidFill>
            <a:srgbClr val="2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B9BB4"/>
                </a:solidFill>
                <a:latin typeface="Microsoft YaHei"/>
                <a:ea typeface="Microsoft YaHei"/>
                <a:cs typeface="Microsoft YaHei"/>
              </a:rPr>
              <a:t>小组作业答辩 · 指挥官战术对抗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6510528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B9BB4"/>
                </a:solidFill>
                <a:latin typeface="Microsoft YaHei"/>
                <a:ea typeface="Microsoft YaHei"/>
                <a:cs typeface="Microsoft YaHei"/>
              </a:rPr>
              <a:t>10 / 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成果与验证：可完整游玩，且有自动化检查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143000"/>
            <a:ext cx="2697480" cy="1371600"/>
          </a:xfrm>
          <a:prstGeom prst="roundRect">
            <a:avLst>
              <a:gd name="adj" fmla="val 8000"/>
            </a:avLst>
          </a:prstGeom>
          <a:solidFill>
            <a:srgbClr val="1520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DD4BF"/>
                </a:solidFill>
                <a:latin typeface="Microsoft YaHei"/>
                <a:ea typeface="Microsoft YaHei"/>
                <a:cs typeface="Microsoft YaHei"/>
              </a:rPr>
              <a:t>完整对局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78308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B9BB4"/>
                </a:solidFill>
                <a:latin typeface="Microsoft YaHei"/>
                <a:ea typeface="Microsoft YaHei"/>
                <a:cs typeface="Microsoft YaHei"/>
              </a:rPr>
              <a:t>配置 → 对战 → 结算可闭环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37560" y="1143000"/>
            <a:ext cx="2697480" cy="1371600"/>
          </a:xfrm>
          <a:prstGeom prst="roundRect">
            <a:avLst>
              <a:gd name="adj" fmla="val 8000"/>
            </a:avLst>
          </a:prstGeom>
          <a:solidFill>
            <a:srgbClr val="1520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20440" y="13258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B82F6"/>
                </a:solidFill>
                <a:latin typeface="Microsoft YaHei"/>
                <a:ea typeface="Microsoft YaHei"/>
                <a:cs typeface="Microsoft YaHei"/>
              </a:rPr>
              <a:t>测试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20440" y="178308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B9BB4"/>
                </a:solidFill>
                <a:latin typeface="Microsoft YaHei"/>
                <a:ea typeface="Microsoft YaHei"/>
                <a:cs typeface="Microsoft YaHei"/>
              </a:rPr>
              <a:t>单元 / 集成 / 性能 pytest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143000"/>
            <a:ext cx="2697480" cy="1371600"/>
          </a:xfrm>
          <a:prstGeom prst="roundRect">
            <a:avLst>
              <a:gd name="adj" fmla="val 8000"/>
            </a:avLst>
          </a:prstGeom>
          <a:solidFill>
            <a:srgbClr val="1520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3258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rPr>
              <a:t>静态检查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178308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B9BB4"/>
                </a:solidFill>
                <a:latin typeface="Microsoft YaHei"/>
                <a:ea typeface="Microsoft YaHei"/>
                <a:cs typeface="Microsoft YaHei"/>
              </a:rPr>
              <a:t>ruff + mypy strict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06840" y="1143000"/>
            <a:ext cx="2697480" cy="1371600"/>
          </a:xfrm>
          <a:prstGeom prst="roundRect">
            <a:avLst>
              <a:gd name="adj" fmla="val 8000"/>
            </a:avLst>
          </a:prstGeom>
          <a:solidFill>
            <a:srgbClr val="1520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89720" y="13258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85D4C"/>
                </a:solidFill>
                <a:latin typeface="Microsoft YaHei"/>
                <a:ea typeface="Microsoft YaHei"/>
                <a:cs typeface="Microsoft YaHei"/>
              </a:rPr>
              <a:t>长压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89720" y="178308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B9BB4"/>
                </a:solidFill>
                <a:latin typeface="Microsoft YaHei"/>
                <a:ea typeface="Microsoft YaHei"/>
                <a:cs typeface="Microsoft YaHei"/>
              </a:rPr>
              <a:t>benchmark_soak 长时间模拟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2788920"/>
            <a:ext cx="11155680" cy="3200400"/>
          </a:xfrm>
          <a:prstGeom prst="roundRect">
            <a:avLst>
              <a:gd name="adj" fmla="val 8000"/>
            </a:avLst>
          </a:prstGeom>
          <a:solidFill>
            <a:srgbClr val="1520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29718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3B82F6"/>
                </a:solidFill>
                <a:latin typeface="Microsoft YaHei"/>
                <a:ea typeface="Microsoft YaHei"/>
                <a:cs typeface="Microsoft YaHei"/>
              </a:rPr>
              <a:t>可演示路径（建议现场跑一条）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47472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▸  1. 进入默认对称地图，框选初始部队，分化为步兵/工兵/侦察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▸  2. 文字军令：“工兵队在中央架桥”，观察跨度预览与施工进度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▸  3. 右键村庄征兵，底栏训练兵种；编组后下达攻击移动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▸  4. 开启自动作战，再用鼠标手动覆盖，验证人机指令优先级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▸  5. F5 存档 / F9 载入；将领阵亡进入结算统计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6446520"/>
            <a:ext cx="11155680" cy="12700"/>
          </a:xfrm>
          <a:prstGeom prst="rect">
            <a:avLst/>
          </a:prstGeom>
          <a:solidFill>
            <a:srgbClr val="2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B9BB4"/>
                </a:solidFill>
                <a:latin typeface="Microsoft YaHei"/>
                <a:ea typeface="Microsoft YaHei"/>
                <a:cs typeface="Microsoft YaHei"/>
              </a:rPr>
              <a:t>小组作业答辩 · 指挥官战术对抗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0" y="6510528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B9BB4"/>
                </a:solidFill>
                <a:latin typeface="Microsoft YaHei"/>
                <a:ea typeface="Microsoft YaHei"/>
                <a:cs typeface="Microsoft YaHei"/>
              </a:rPr>
              <a:t>11 / 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总结：做了什么，还差什么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143000"/>
            <a:ext cx="5486400" cy="2468880"/>
          </a:xfrm>
          <a:prstGeom prst="roundRect">
            <a:avLst>
              <a:gd name="adj" fmla="val 8000"/>
            </a:avLst>
          </a:prstGeom>
          <a:solidFill>
            <a:srgbClr val="1520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73152" cy="246888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9304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我们完成的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B9BB4"/>
                </a:solidFill>
                <a:latin typeface="Microsoft YaHei"/>
                <a:ea typeface="Microsoft YaHei"/>
                <a:cs typeface="Microsoft YaHei"/>
              </a:rPr>
              <a:t>· 千人级独立模拟与对战闭环
· 自然语言指挥 + 离线兜底
· 永久迷雾与信息隔离 AI
· 桥/船/塔工程 · 存档回放结算
· 双平台打包 · 测试与静态检查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143000"/>
            <a:ext cx="5440680" cy="2468880"/>
          </a:xfrm>
          <a:prstGeom prst="roundRect">
            <a:avLst>
              <a:gd name="adj" fmla="val 8000"/>
            </a:avLst>
          </a:prstGeom>
          <a:solidFill>
            <a:srgbClr val="1520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0" y="1143000"/>
            <a:ext cx="73152" cy="24688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289304"/>
            <a:ext cx="5074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不足与后续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1645920"/>
            <a:ext cx="5074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B9BB4"/>
                </a:solidFill>
                <a:latin typeface="Microsoft YaHei"/>
                <a:ea typeface="Microsoft YaHei"/>
                <a:cs typeface="Microsoft YaHei"/>
              </a:rPr>
              <a:t>· 教程与数值平衡仍需试玩
· 语音在无麦克风环境验证不足
· 默认地图美术与多机型性能复测
· 经济/联机/剧情明确不进本期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886200"/>
            <a:ext cx="11155680" cy="2148840"/>
          </a:xfrm>
          <a:prstGeom prst="roundRect">
            <a:avLst>
              <a:gd name="adj" fmla="val 8000"/>
            </a:avLst>
          </a:prstGeom>
          <a:solidFill>
            <a:srgbClr val="1B2A42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41148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B82F6"/>
                </a:solidFill>
                <a:latin typeface="Microsoft YaHei"/>
                <a:ea typeface="Microsoft YaHei"/>
                <a:cs typeface="Microsoft YaHei"/>
              </a:rPr>
              <a:t>一句话总结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5262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我们交付的不是“按钮很多的 RTS”，而是一套可验证、可离线、可复盘的指挥官式对战原型。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1206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B9BB4"/>
                </a:solidFill>
                <a:latin typeface="Microsoft YaHei"/>
                <a:ea typeface="Microsoft YaHei"/>
                <a:cs typeface="Microsoft YaHei"/>
              </a:rPr>
              <a:t>下一步优先：教程打磨 → 平衡试玩 → 多机型性能复测 → 发布验收。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5778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DD4BF"/>
                </a:solidFill>
                <a:latin typeface="Microsoft YaHei"/>
                <a:ea typeface="Microsoft YaHei"/>
                <a:cs typeface="Microsoft YaHei"/>
              </a:rPr>
              <a:t>感谢各位老师指导。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6446520"/>
            <a:ext cx="11155680" cy="12700"/>
          </a:xfrm>
          <a:prstGeom prst="rect">
            <a:avLst/>
          </a:prstGeom>
          <a:solidFill>
            <a:srgbClr val="2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B9BB4"/>
                </a:solidFill>
                <a:latin typeface="Microsoft YaHei"/>
                <a:ea typeface="Microsoft YaHei"/>
                <a:cs typeface="Microsoft YaHei"/>
              </a:rPr>
              <a:t>小组作业答辩 · 指挥官战术对抗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510528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B9BB4"/>
                </a:solidFill>
                <a:latin typeface="Microsoft YaHei"/>
                <a:ea typeface="Microsoft YaHei"/>
                <a:cs typeface="Microsoft YaHei"/>
              </a:rPr>
              <a:t>12 / 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感谢聆听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0175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8B9BB4"/>
                </a:solidFill>
                <a:latin typeface="Microsoft YaHei"/>
                <a:ea typeface="Microsoft YaHei"/>
                <a:cs typeface="Microsoft YaHei"/>
              </a:rPr>
              <a:t>指挥官战术对抗 · 小组作业答辩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657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DD4BF"/>
                </a:solidFill>
                <a:latin typeface="Microsoft YaHei"/>
                <a:ea typeface="Microsoft YaHei"/>
                <a:cs typeface="Microsoft YaHei"/>
              </a:rPr>
              <a:t>欢迎老师提问 · 演示 / 架构 / 公平性 / 性能均可展开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46520"/>
            <a:ext cx="11155680" cy="12700"/>
          </a:xfrm>
          <a:prstGeom prst="rect">
            <a:avLst/>
          </a:prstGeom>
          <a:solidFill>
            <a:srgbClr val="2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B9BB4"/>
                </a:solidFill>
                <a:latin typeface="Microsoft YaHei"/>
                <a:ea typeface="Microsoft YaHei"/>
                <a:cs typeface="Microsoft YaHei"/>
              </a:rPr>
              <a:t>小组作业答辩 · 指挥官战术对抗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10528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B9BB4"/>
                </a:solidFill>
                <a:latin typeface="Microsoft YaHei"/>
                <a:ea typeface="Microsoft YaHei"/>
                <a:cs typeface="Microsoft YaHei"/>
              </a:rPr>
              <a:t>13 /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

<file path=docProps/custom.xml><?xml version="1.0" encoding="utf-8"?>
<Properties xmlns:vt="http://schemas.openxmlformats.org/officeDocument/2006/docPropsVTypes" xmlns="http://schemas.openxmlformats.org/officeDocument/2006/custom-properties">
  <property name="CWM73a7ce90a88511f19d76d7bc1d76d6bc" pid="2" fmtid="{D5CDD505-2E9C-101B-9397-08002B2CF9AE}">
    <vt:lpwstr>CWMKuCX5SV1UQL2tw46chOcCHkgHjME0rI0HRBJFFMyFH4dVBmnh2Bbwo/cOPn1ZUe6fzhHtDFD/4IjH68FerVl9w==</vt:lpwstr>
  </property>
</Properties>
</file>